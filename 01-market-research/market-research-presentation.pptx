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7" r:id="rId4"/>
    <p:sldId id="259" r:id="rId5"/>
    <p:sldId id="260" r:id="rId6"/>
    <p:sldId id="261" r:id="rId7"/>
    <p:sldId id="263" r:id="rId8"/>
    <p:sldId id="269" r:id="rId9"/>
    <p:sldId id="270" r:id="rId10"/>
    <p:sldId id="271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ed Abdullahi" userId="e6d053df067621fe" providerId="LiveId" clId="{09E7EA4F-5006-48E5-A755-DC27F710FD8E}"/>
    <pc:docChg chg="undo redo custSel addSld modSld sldOrd">
      <pc:chgData name="Ahmed Abdullahi" userId="e6d053df067621fe" providerId="LiveId" clId="{09E7EA4F-5006-48E5-A755-DC27F710FD8E}" dt="2026-09-08T07:56:18.440" v="235" actId="20577"/>
      <pc:docMkLst>
        <pc:docMk/>
      </pc:docMkLst>
      <pc:sldChg chg="modSp mod">
        <pc:chgData name="Ahmed Abdullahi" userId="e6d053df067621fe" providerId="LiveId" clId="{09E7EA4F-5006-48E5-A755-DC27F710FD8E}" dt="2026-09-03T10:23:49.947" v="41" actId="1038"/>
        <pc:sldMkLst>
          <pc:docMk/>
          <pc:sldMk cId="0" sldId="256"/>
        </pc:sldMkLst>
        <pc:spChg chg="mod">
          <ac:chgData name="Ahmed Abdullahi" userId="e6d053df067621fe" providerId="LiveId" clId="{09E7EA4F-5006-48E5-A755-DC27F710FD8E}" dt="2026-09-03T10:23:49.947" v="41" actId="1038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Ahmed Abdullahi" userId="e6d053df067621fe" providerId="LiveId" clId="{09E7EA4F-5006-48E5-A755-DC27F710FD8E}" dt="2026-09-03T11:30:44.301" v="103" actId="20577"/>
        <pc:sldMkLst>
          <pc:docMk/>
          <pc:sldMk cId="0" sldId="257"/>
        </pc:sldMkLst>
        <pc:spChg chg="mod">
          <ac:chgData name="Ahmed Abdullahi" userId="e6d053df067621fe" providerId="LiveId" clId="{09E7EA4F-5006-48E5-A755-DC27F710FD8E}" dt="2026-09-03T11:30:44.301" v="103" actId="20577"/>
          <ac:spMkLst>
            <pc:docMk/>
            <pc:sldMk cId="0" sldId="257"/>
            <ac:spMk id="15" creationId="{00000000-0000-0000-0000-000000000000}"/>
          </ac:spMkLst>
        </pc:spChg>
      </pc:sldChg>
      <pc:sldChg chg="modSp mod">
        <pc:chgData name="Ahmed Abdullahi" userId="e6d053df067621fe" providerId="LiveId" clId="{09E7EA4F-5006-48E5-A755-DC27F710FD8E}" dt="2026-09-03T06:56:06.577" v="6" actId="403"/>
        <pc:sldMkLst>
          <pc:docMk/>
          <pc:sldMk cId="0" sldId="259"/>
        </pc:sldMkLst>
        <pc:spChg chg="mod">
          <ac:chgData name="Ahmed Abdullahi" userId="e6d053df067621fe" providerId="LiveId" clId="{09E7EA4F-5006-48E5-A755-DC27F710FD8E}" dt="2026-09-03T06:56:06.577" v="6" actId="403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Ahmed Abdullahi" userId="e6d053df067621fe" providerId="LiveId" clId="{09E7EA4F-5006-48E5-A755-DC27F710FD8E}" dt="2026-09-03T06:56:21.254" v="7" actId="403"/>
        <pc:sldMkLst>
          <pc:docMk/>
          <pc:sldMk cId="0" sldId="260"/>
        </pc:sldMkLst>
        <pc:spChg chg="mod">
          <ac:chgData name="Ahmed Abdullahi" userId="e6d053df067621fe" providerId="LiveId" clId="{09E7EA4F-5006-48E5-A755-DC27F710FD8E}" dt="2026-09-03T06:56:21.254" v="7" actId="403"/>
          <ac:spMkLst>
            <pc:docMk/>
            <pc:sldMk cId="0" sldId="260"/>
            <ac:spMk id="16" creationId="{00000000-0000-0000-0000-000000000000}"/>
          </ac:spMkLst>
        </pc:spChg>
      </pc:sldChg>
      <pc:sldChg chg="modSp mod">
        <pc:chgData name="Ahmed Abdullahi" userId="e6d053df067621fe" providerId="LiveId" clId="{09E7EA4F-5006-48E5-A755-DC27F710FD8E}" dt="2026-09-03T14:04:00.908" v="179" actId="403"/>
        <pc:sldMkLst>
          <pc:docMk/>
          <pc:sldMk cId="0" sldId="261"/>
        </pc:sldMkLst>
        <pc:spChg chg="mod">
          <ac:chgData name="Ahmed Abdullahi" userId="e6d053df067621fe" providerId="LiveId" clId="{09E7EA4F-5006-48E5-A755-DC27F710FD8E}" dt="2026-09-03T14:04:00.908" v="179" actId="403"/>
          <ac:spMkLst>
            <pc:docMk/>
            <pc:sldMk cId="0" sldId="261"/>
            <ac:spMk id="16" creationId="{00000000-0000-0000-0000-000000000000}"/>
          </ac:spMkLst>
        </pc:spChg>
      </pc:sldChg>
      <pc:sldChg chg="modSp mod">
        <pc:chgData name="Ahmed Abdullahi" userId="e6d053df067621fe" providerId="LiveId" clId="{09E7EA4F-5006-48E5-A755-DC27F710FD8E}" dt="2026-09-03T07:00:38.373" v="9" actId="1076"/>
        <pc:sldMkLst>
          <pc:docMk/>
          <pc:sldMk cId="0" sldId="263"/>
        </pc:sldMkLst>
        <pc:spChg chg="mod">
          <ac:chgData name="Ahmed Abdullahi" userId="e6d053df067621fe" providerId="LiveId" clId="{09E7EA4F-5006-48E5-A755-DC27F710FD8E}" dt="2026-09-03T07:00:38.373" v="9" actId="1076"/>
          <ac:spMkLst>
            <pc:docMk/>
            <pc:sldMk cId="0" sldId="263"/>
            <ac:spMk id="3" creationId="{00000000-0000-0000-0000-000000000000}"/>
          </ac:spMkLst>
        </pc:spChg>
      </pc:sldChg>
      <pc:sldChg chg="modSp mod ord setBg">
        <pc:chgData name="Ahmed Abdullahi" userId="e6d053df067621fe" providerId="LiveId" clId="{09E7EA4F-5006-48E5-A755-DC27F710FD8E}" dt="2026-09-04T07:47:24.974" v="225"/>
        <pc:sldMkLst>
          <pc:docMk/>
          <pc:sldMk cId="0" sldId="267"/>
        </pc:sldMkLst>
        <pc:spChg chg="mod">
          <ac:chgData name="Ahmed Abdullahi" userId="e6d053df067621fe" providerId="LiveId" clId="{09E7EA4F-5006-48E5-A755-DC27F710FD8E}" dt="2026-09-04T07:30:16.175" v="223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Ahmed Abdullahi" userId="e6d053df067621fe" providerId="LiveId" clId="{09E7EA4F-5006-48E5-A755-DC27F710FD8E}" dt="2026-09-03T14:08:45.806" v="180" actId="255"/>
          <ac:spMkLst>
            <pc:docMk/>
            <pc:sldMk cId="0" sldId="267"/>
            <ac:spMk id="4" creationId="{00000000-0000-0000-0000-000000000000}"/>
          </ac:spMkLst>
        </pc:spChg>
        <pc:spChg chg="mod">
          <ac:chgData name="Ahmed Abdullahi" userId="e6d053df067621fe" providerId="LiveId" clId="{09E7EA4F-5006-48E5-A755-DC27F710FD8E}" dt="2026-09-03T11:35:04.845" v="107" actId="404"/>
          <ac:spMkLst>
            <pc:docMk/>
            <pc:sldMk cId="0" sldId="267"/>
            <ac:spMk id="6" creationId="{00000000-0000-0000-0000-000000000000}"/>
          </ac:spMkLst>
        </pc:spChg>
        <pc:spChg chg="mod">
          <ac:chgData name="Ahmed Abdullahi" userId="e6d053df067621fe" providerId="LiveId" clId="{09E7EA4F-5006-48E5-A755-DC27F710FD8E}" dt="2026-09-03T11:35:04.845" v="107" actId="404"/>
          <ac:spMkLst>
            <pc:docMk/>
            <pc:sldMk cId="0" sldId="267"/>
            <ac:spMk id="10" creationId="{00000000-0000-0000-0000-000000000000}"/>
          </ac:spMkLst>
        </pc:spChg>
        <pc:spChg chg="mod">
          <ac:chgData name="Ahmed Abdullahi" userId="e6d053df067621fe" providerId="LiveId" clId="{09E7EA4F-5006-48E5-A755-DC27F710FD8E}" dt="2026-09-03T11:35:04.845" v="107" actId="404"/>
          <ac:spMkLst>
            <pc:docMk/>
            <pc:sldMk cId="0" sldId="267"/>
            <ac:spMk id="12" creationId="{00000000-0000-0000-0000-000000000000}"/>
          </ac:spMkLst>
        </pc:spChg>
        <pc:spChg chg="mod">
          <ac:chgData name="Ahmed Abdullahi" userId="e6d053df067621fe" providerId="LiveId" clId="{09E7EA4F-5006-48E5-A755-DC27F710FD8E}" dt="2026-09-03T11:35:04.845" v="107" actId="404"/>
          <ac:spMkLst>
            <pc:docMk/>
            <pc:sldMk cId="0" sldId="267"/>
            <ac:spMk id="15" creationId="{00000000-0000-0000-0000-000000000000}"/>
          </ac:spMkLst>
        </pc:spChg>
        <pc:spChg chg="mod">
          <ac:chgData name="Ahmed Abdullahi" userId="e6d053df067621fe" providerId="LiveId" clId="{09E7EA4F-5006-48E5-A755-DC27F710FD8E}" dt="2026-09-03T11:35:04.845" v="107" actId="404"/>
          <ac:spMkLst>
            <pc:docMk/>
            <pc:sldMk cId="0" sldId="267"/>
            <ac:spMk id="16" creationId="{00000000-0000-0000-0000-000000000000}"/>
          </ac:spMkLst>
        </pc:spChg>
        <pc:spChg chg="mod">
          <ac:chgData name="Ahmed Abdullahi" userId="e6d053df067621fe" providerId="LiveId" clId="{09E7EA4F-5006-48E5-A755-DC27F710FD8E}" dt="2026-09-03T11:35:04.845" v="107" actId="404"/>
          <ac:spMkLst>
            <pc:docMk/>
            <pc:sldMk cId="0" sldId="267"/>
            <ac:spMk id="18" creationId="{00000000-0000-0000-0000-000000000000}"/>
          </ac:spMkLst>
        </pc:spChg>
        <pc:spChg chg="mod">
          <ac:chgData name="Ahmed Abdullahi" userId="e6d053df067621fe" providerId="LiveId" clId="{09E7EA4F-5006-48E5-A755-DC27F710FD8E}" dt="2026-09-03T11:35:04.845" v="107" actId="404"/>
          <ac:spMkLst>
            <pc:docMk/>
            <pc:sldMk cId="0" sldId="267"/>
            <ac:spMk id="19" creationId="{00000000-0000-0000-0000-000000000000}"/>
          </ac:spMkLst>
        </pc:spChg>
        <pc:spChg chg="mod">
          <ac:chgData name="Ahmed Abdullahi" userId="e6d053df067621fe" providerId="LiveId" clId="{09E7EA4F-5006-48E5-A755-DC27F710FD8E}" dt="2026-09-03T11:35:04.845" v="107" actId="404"/>
          <ac:spMkLst>
            <pc:docMk/>
            <pc:sldMk cId="0" sldId="267"/>
            <ac:spMk id="20" creationId="{00000000-0000-0000-0000-000000000000}"/>
          </ac:spMkLst>
        </pc:spChg>
        <pc:spChg chg="mod">
          <ac:chgData name="Ahmed Abdullahi" userId="e6d053df067621fe" providerId="LiveId" clId="{09E7EA4F-5006-48E5-A755-DC27F710FD8E}" dt="2026-09-03T11:35:04.845" v="107" actId="404"/>
          <ac:spMkLst>
            <pc:docMk/>
            <pc:sldMk cId="0" sldId="267"/>
            <ac:spMk id="24" creationId="{00000000-0000-0000-0000-000000000000}"/>
          </ac:spMkLst>
        </pc:spChg>
      </pc:sldChg>
      <pc:sldChg chg="modSp mod">
        <pc:chgData name="Ahmed Abdullahi" userId="e6d053df067621fe" providerId="LiveId" clId="{09E7EA4F-5006-48E5-A755-DC27F710FD8E}" dt="2026-09-08T07:56:18.440" v="235" actId="20577"/>
        <pc:sldMkLst>
          <pc:docMk/>
          <pc:sldMk cId="0" sldId="269"/>
        </pc:sldMkLst>
        <pc:spChg chg="mod">
          <ac:chgData name="Ahmed Abdullahi" userId="e6d053df067621fe" providerId="LiveId" clId="{09E7EA4F-5006-48E5-A755-DC27F710FD8E}" dt="2026-09-03T14:00:20.729" v="176" actId="403"/>
          <ac:spMkLst>
            <pc:docMk/>
            <pc:sldMk cId="0" sldId="269"/>
            <ac:spMk id="4" creationId="{00000000-0000-0000-0000-000000000000}"/>
          </ac:spMkLst>
        </pc:spChg>
        <pc:graphicFrameChg chg="mod modGraphic">
          <ac:chgData name="Ahmed Abdullahi" userId="e6d053df067621fe" providerId="LiveId" clId="{09E7EA4F-5006-48E5-A755-DC27F710FD8E}" dt="2026-09-08T07:56:18.440" v="235" actId="20577"/>
          <ac:graphicFrameMkLst>
            <pc:docMk/>
            <pc:sldMk cId="0" sldId="269"/>
            <ac:graphicFrameMk id="9" creationId="{00000000-0000-0000-0000-000000000000}"/>
          </ac:graphicFrameMkLst>
        </pc:graphicFrameChg>
      </pc:sldChg>
      <pc:sldChg chg="modSp mod">
        <pc:chgData name="Ahmed Abdullahi" userId="e6d053df067621fe" providerId="LiveId" clId="{09E7EA4F-5006-48E5-A755-DC27F710FD8E}" dt="2026-09-03T13:56:14.647" v="152" actId="404"/>
        <pc:sldMkLst>
          <pc:docMk/>
          <pc:sldMk cId="2282745287" sldId="270"/>
        </pc:sldMkLst>
        <pc:spChg chg="mod">
          <ac:chgData name="Ahmed Abdullahi" userId="e6d053df067621fe" providerId="LiveId" clId="{09E7EA4F-5006-48E5-A755-DC27F710FD8E}" dt="2026-09-03T13:56:14.647" v="152" actId="404"/>
          <ac:spMkLst>
            <pc:docMk/>
            <pc:sldMk cId="2282745287" sldId="270"/>
            <ac:spMk id="10" creationId="{726C3818-3840-C58C-DC3E-F785D93CD366}"/>
          </ac:spMkLst>
        </pc:spChg>
      </pc:sldChg>
      <pc:sldChg chg="delSp modSp add mod">
        <pc:chgData name="Ahmed Abdullahi" userId="e6d053df067621fe" providerId="LiveId" clId="{09E7EA4F-5006-48E5-A755-DC27F710FD8E}" dt="2026-09-03T11:28:07.777" v="78" actId="207"/>
        <pc:sldMkLst>
          <pc:docMk/>
          <pc:sldMk cId="1772051734" sldId="271"/>
        </pc:sldMkLst>
        <pc:spChg chg="mod">
          <ac:chgData name="Ahmed Abdullahi" userId="e6d053df067621fe" providerId="LiveId" clId="{09E7EA4F-5006-48E5-A755-DC27F710FD8E}" dt="2026-09-03T11:28:07.777" v="78" actId="207"/>
          <ac:spMkLst>
            <pc:docMk/>
            <pc:sldMk cId="1772051734" sldId="271"/>
            <ac:spMk id="9" creationId="{BF325551-65DA-F808-1C06-C02879619AD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0634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7C283-0057-4199-933B-199E9AF8A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0ED6C4-84A7-41C6-4C25-35DBB0487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BAEEC-1EAB-CAF6-6B03-856B96FF4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41D19-3819-205D-F7E1-FCD7CE80BB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194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0B8CA-6450-4102-1656-1216F9EA7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4D165-204A-29A6-6C98-5A1CE0A30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8612B-4BA1-EB3C-3373-AC787B25E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AD7BBD-54A7-4ABB-1AF1-C5D74A76E4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514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540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F766E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572000"/>
            <a:ext cx="4572000" cy="4572000"/>
          </a:xfrm>
          <a:prstGeom prst="ellipse">
            <a:avLst/>
          </a:prstGeom>
          <a:solidFill>
            <a:srgbClr val="10B981">
              <a:alpha val="25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40176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10B98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COMPANY &amp; PRODUCT IMMERSION  ·  WEEK 1 &amp; 2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40079" y="1828800"/>
            <a:ext cx="1091184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SIDONPAY's Ecosystem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1"/>
            <a:ext cx="1046130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en-US" dirty="0">
                <a:solidFill>
                  <a:srgbClr val="C9D6DF"/>
                </a:solidFill>
                <a:ea typeface="Calibri" pitchFamily="34" charset="-122"/>
                <a:cs typeface="Times New Roman" panose="02020603050405020304" pitchFamily="18" charset="0"/>
              </a:rPr>
              <a:t>Market immersion, competitive landscape, and the analytical foundation for a Nigeria-first multi-currency wallet.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5394960"/>
            <a:ext cx="2743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5577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Analyst  Intern  ·  Team Beta
</a:t>
            </a:r>
            <a:r>
              <a:rPr lang="en-US" sz="2000" dirty="0">
                <a:solidFill>
                  <a:srgbClr val="C9D6D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Ahmed Abdullahi </a:t>
            </a:r>
            <a:r>
              <a:rPr lang="en-US" sz="2000" dirty="0" err="1">
                <a:solidFill>
                  <a:srgbClr val="C9D6D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Olamilekan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9"/>
                </a:solidFill>
                <a:ea typeface="Calibri" pitchFamily="34" charset="-122"/>
                <a:cs typeface="Times New Roman" panose="02020603050405020304" pitchFamily="18" charset="0"/>
              </a:rPr>
              <a:t>Two deliverables, connected by one goal: turning SIDONPAY's product vision into analytical opportunity.</a:t>
            </a:r>
            <a:endParaRPr lang="en-US" sz="1600" i="1" dirty="0"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8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High-Value Data Points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677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9"/>
                </a:solidFill>
                <a:ea typeface="Calibri" pitchFamily="34" charset="-122"/>
                <a:cs typeface="Times New Roman" panose="02020603050405020304" pitchFamily="18" charset="0"/>
              </a:rPr>
              <a:t>Three of SIDONPAY's key differentiators — the data each will generate, and which team benefits most.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337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8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291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Driving Data-Backed Decisions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68503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9"/>
                </a:solidFill>
                <a:ea typeface="Calibri" pitchFamily="34" charset="-122"/>
                <a:cs typeface="Times New Roman" panose="02020603050405020304" pitchFamily="18" charset="0"/>
              </a:rPr>
              <a:t>Concrete examples of how that future data should change real decisions at SIDONPAY.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475488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8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709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Positioning Matrix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510235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6B79"/>
                </a:solidFill>
                <a:ea typeface="Calibri" pitchFamily="34" charset="-122"/>
                <a:cs typeface="Times New Roman" panose="02020603050405020304" pitchFamily="18" charset="0"/>
              </a:rPr>
              <a:t>How SIDONPAY compares to Wise, Chipper Cash, and Revolut.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7200" y="6564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SIDONPAY — Team Beta — Week 1 &amp; 2</a:t>
            </a:r>
            <a:endParaRPr lang="en-US" sz="9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ORIENTATION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SIDONPAY at a Glance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05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700" dirty="0">
                <a:solidFill>
                  <a:srgbClr val="5A5A5A"/>
                </a:solidFill>
                <a:ea typeface="Calibri" pitchFamily="34" charset="-122"/>
                <a:cs typeface="Times New Roman" panose="02020603050405020304" pitchFamily="18" charset="0"/>
              </a:rPr>
              <a:t>A Nigeria-first, multi-currency digital wallet unifying NGN bill pay, a USD account, and a USD virtual card in one app — closing the gap left by merchant-only, global-only, or purely local competitors.</a:t>
            </a:r>
            <a:endParaRPr lang="en-US" sz="1700" dirty="0"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Unified Consumer Wallet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577840" y="2344973"/>
            <a:ext cx="5486400" cy="430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ea typeface="Calibri" pitchFamily="34" charset="-122"/>
                <a:cs typeface="Times New Roman" panose="02020603050405020304" pitchFamily="18" charset="0"/>
              </a:rPr>
              <a:t>NGN bill pay + USD account + USD virtual card, one app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063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Transparent Fee Card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577840" y="3115250"/>
            <a:ext cx="5486400" cy="318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ea typeface="Calibri" pitchFamily="34" charset="-122"/>
                <a:cs typeface="Times New Roman" panose="02020603050405020304" pitchFamily="18" charset="0"/>
              </a:rPr>
              <a:t>Wise-style published pricing on issuance, maintenance, FX markup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840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Nigeria-first Bill Pay + Global Spend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5577840" y="3919992"/>
            <a:ext cx="5486400" cy="404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ea typeface="Calibri" pitchFamily="34" charset="-122"/>
                <a:cs typeface="Times New Roman" panose="02020603050405020304" pitchFamily="18" charset="0"/>
              </a:rPr>
              <a:t>Local utility payments with incentives, plus global spending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663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617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Gift Card Marketplace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5577840" y="4683980"/>
            <a:ext cx="5486400" cy="41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ea typeface="Calibri" pitchFamily="34" charset="-122"/>
                <a:cs typeface="Times New Roman" panose="02020603050405020304" pitchFamily="18" charset="0"/>
              </a:rPr>
              <a:t>Local &amp; global brands, purchasable via NGN, USD, or crypto</a:t>
            </a:r>
            <a:endParaRPr lang="en-US" sz="1600" dirty="0"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5440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394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3D42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Speedy Tiered KYC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5669280" y="53949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“Verify in minutes” across Basic, Standard, Pro tiers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48640" y="6564465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SIDONPAY · Team Beta · Week 1 &amp; 2</a:t>
            </a:r>
            <a:endParaRPr lang="en-US" sz="9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85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Consumer Wallet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4953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NGN bill pay + USD account + USD virtual card, in one app.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F7F9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this will generate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99575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currency users touch first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NGN bill-pay activity precedes a USD top-up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adoption sequencing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users engage the full wallet or just one leg of it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452360" y="196596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266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MOST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23957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971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52360" y="397764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EAF7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2668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4434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needs this to know which combination of features actually creates the “unified” value promise, and where to invest next in cross-linking features.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64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SIDONPAY — Team Beta — Week 1 &amp; 2</a:t>
            </a:r>
            <a:endParaRPr lang="en-US" sz="9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7E6DFFA2-3E41-A9F8-17F5-E0B77FCC9182}"/>
              </a:ext>
            </a:extLst>
          </p:cNvPr>
          <p:cNvSpPr txBox="1"/>
          <p:nvPr/>
        </p:nvSpPr>
        <p:spPr>
          <a:xfrm>
            <a:off x="457200" y="280715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DATA POINT 1 OF 3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85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Transparent Fee Card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Wise-style published pricing on issuance, maintenance, and FX markup.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1168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F7F9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this will generate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99576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Fee-page views before signup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rate after viewing fees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users compare SIDONPAY's fees to a competitor's before converting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452360" y="196596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266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MOST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23957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971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52360" y="397764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EAF7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2668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4434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is SIDONPAY's core trust message — Marketing needs this data to prove (and message) that the promise is real, and to spot where trust is being lost.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SIDONPAY — Team Beta — Week 1 &amp; 2</a:t>
            </a:r>
            <a:endParaRPr lang="en-US" sz="9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2E1C3D91-2D8A-E5A2-D1D4-69796CEBAF99}"/>
              </a:ext>
            </a:extLst>
          </p:cNvPr>
          <p:cNvSpPr txBox="1"/>
          <p:nvPr/>
        </p:nvSpPr>
        <p:spPr>
          <a:xfrm>
            <a:off x="548640" y="347731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DATA POINT 2 OF 3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85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Speedy Tiered KYC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984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"Verify in minutes" — Basic, Standard, and Pro tiers with transparent limits.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675120" cy="4114800"/>
          </a:xfrm>
          <a:prstGeom prst="roundRect">
            <a:avLst>
              <a:gd name="adj" fmla="val 1778"/>
            </a:avLst>
          </a:prstGeom>
          <a:solidFill>
            <a:srgbClr val="F7F9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286000"/>
            <a:ext cx="457200" cy="45720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this will generate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926080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Time-to-verify per tier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drop-off at each KYC step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rejection reasons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upgrade from Basic to higher tiers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452360" y="1965960"/>
            <a:ext cx="4206240" cy="1874520"/>
          </a:xfrm>
          <a:prstGeom prst="roundRect">
            <a:avLst>
              <a:gd name="adj" fmla="val 3902"/>
            </a:avLst>
          </a:prstGeom>
          <a:solidFill>
            <a:srgbClr val="0B254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26680" y="2148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MOST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726680" y="23957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Compliance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9718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452360" y="397764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EAF7F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26680" y="4133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726680" y="4434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needs step-level drop-off data to simplify friction points; Support needs rejection-reason data to reduce repeat tickets and build self-serve fixes.</a:t>
            </a:r>
            <a:endParaRPr lang="en-US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64465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SIDONPAY — Team Beta — Week 1 &amp; 2</a:t>
            </a:r>
            <a:endParaRPr lang="en-US" sz="9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85923B4F-167D-7D81-E09F-8CEA7C8847FA}"/>
              </a:ext>
            </a:extLst>
          </p:cNvPr>
          <p:cNvSpPr txBox="1"/>
          <p:nvPr/>
        </p:nvSpPr>
        <p:spPr>
          <a:xfrm>
            <a:off x="548640" y="30678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DATA POINT 3 OF 3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797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to decision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7F9FA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KYC drop-off data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Design team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3520440"/>
            <a:ext cx="4754880" cy="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7033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verification data shows most users abandon at a specific step (e.g. the selfie/liveness check), Design gets a precise, prioritized fix — not a guess — and can measure whether the redesign actually lifts completion.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7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169164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17048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80" dirty="0"/>
          </a:p>
        </p:txBody>
      </p:sp>
      <p:sp>
        <p:nvSpPr>
          <p:cNvPr id="13" name="Text 11"/>
          <p:cNvSpPr txBox="1"/>
          <p:nvPr/>
        </p:nvSpPr>
        <p:spPr>
          <a:xfrm>
            <a:off x="6629400" y="2423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Gift Card Marketplace transactions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Sales team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29400" y="3520440"/>
            <a:ext cx="4754880" cy="0"/>
          </a:xfrm>
          <a:prstGeom prst="line">
            <a:avLst/>
          </a:prstGeom>
          <a:noFill/>
          <a:ln w="12700">
            <a:solidFill>
              <a:srgbClr val="D6DEE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629400" y="370332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 which brands and currencies (NGN, USD, crypto) actually sell tells Sales which partners to renegotiate better rates with, and which underperforming brands to drop from the marketplace.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90969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SIDONPAY — Team Beta — Week 1 &amp; 2</a:t>
            </a:r>
            <a:endParaRPr lang="en-US" sz="9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19" name="Text 0">
            <a:extLst>
              <a:ext uri="{FF2B5EF4-FFF2-40B4-BE49-F238E27FC236}">
                <a16:creationId xmlns:a16="http://schemas.microsoft.com/office/drawing/2014/main" id="{797CC603-5E0A-1796-297F-1FDECD468365}"/>
              </a:ext>
            </a:extLst>
          </p:cNvPr>
          <p:cNvSpPr txBox="1"/>
          <p:nvPr/>
        </p:nvSpPr>
        <p:spPr>
          <a:xfrm>
            <a:off x="548640" y="19720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DATA-BACKED DECISIONS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Competitor Positioning Matrix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and sourcing in the accompanying Market Research Report.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9464489"/>
              </p:ext>
            </p:extLst>
          </p:nvPr>
        </p:nvGraphicFramePr>
        <p:xfrm>
          <a:off x="204716" y="1874520"/>
          <a:ext cx="11832608" cy="3980371"/>
        </p:xfrm>
        <a:graphic>
          <a:graphicData uri="http://schemas.openxmlformats.org/drawingml/2006/table">
            <a:tbl>
              <a:tblPr/>
              <a:tblGrid>
                <a:gridCol w="1858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4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59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1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42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475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Onboarding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32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Multi-currency, no bill pay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of Mouth, </a:t>
                      </a:r>
                      <a:r>
                        <a:rPr lang="en-US" sz="1600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Transparency-led content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digital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32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Chipper Cash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P2P, USD </a:t>
                      </a:r>
                      <a:r>
                        <a:rPr lang="en-US" sz="160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account, bill pay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Referral virality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(24-48h KYC)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32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Revolut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</a:p>
                    <a:p>
                      <a:pPr marL="0" indent="0" algn="l">
                        <a:buNone/>
                      </a:pP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super-app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consumer marketing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D2A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but feature-heavy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8321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SIDONPAY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(planned)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Unified: bill pay+USD+cards+gift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defined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0B3D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(planned) — tiered KYC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D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6564465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SIDONPAY · Team Beta · Week 1 &amp; 2</a:t>
            </a:r>
            <a:endParaRPr lang="en-US" sz="9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30F093-6730-7DB8-9063-48E32671E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51D870-E52C-D1BD-C1A7-DC8D4E6A196E}"/>
              </a:ext>
            </a:extLst>
          </p:cNvPr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F766E">
              <a:alpha val="30000"/>
            </a:srgbClr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30E73AF-38BF-C180-85F1-4638A1754280}"/>
              </a:ext>
            </a:extLst>
          </p:cNvPr>
          <p:cNvSpPr txBox="1"/>
          <p:nvPr/>
        </p:nvSpPr>
        <p:spPr>
          <a:xfrm>
            <a:off x="640080" y="4754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findings, sourcing, and the detailed competitor write-up are in the accompanying Market Research Report.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47D8072-03C8-BE39-F16A-FB5889684339}"/>
              </a:ext>
            </a:extLst>
          </p:cNvPr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SIDONPAY — Team Beta — Week 1 &amp; 2</a:t>
            </a:r>
            <a:endParaRPr lang="en-US" sz="9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D11AEFF-344A-26B0-4FE3-ED81542C9D19}"/>
              </a:ext>
            </a:extLst>
          </p:cNvPr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7A56C6A7-1BE1-3FD9-9D35-D26F6E6B25E9}"/>
              </a:ext>
            </a:extLst>
          </p:cNvPr>
          <p:cNvSpPr txBox="1"/>
          <p:nvPr/>
        </p:nvSpPr>
        <p:spPr>
          <a:xfrm>
            <a:off x="457200" y="2261091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SIDONPAY differentiator is also a future data source — the job now is to connect each feature to the team and decision it will power.</a:t>
            </a:r>
            <a:endParaRPr lang="en-US" sz="2600" dirty="0"/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726C3818-3840-C58C-DC3E-F785D93CD366}"/>
              </a:ext>
            </a:extLst>
          </p:cNvPr>
          <p:cNvSpPr txBox="1"/>
          <p:nvPr/>
        </p:nvSpPr>
        <p:spPr>
          <a:xfrm>
            <a:off x="731520" y="1311547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82745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A5DCAD-1320-CD52-AB27-493E98A9A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CBC2531-215F-F1B9-21B3-478FC68945BB}"/>
              </a:ext>
            </a:extLst>
          </p:cNvPr>
          <p:cNvSpPr/>
          <p:nvPr/>
        </p:nvSpPr>
        <p:spPr>
          <a:xfrm>
            <a:off x="8961120" y="-1371600"/>
            <a:ext cx="5486400" cy="5486400"/>
          </a:xfrm>
          <a:prstGeom prst="ellipse">
            <a:avLst/>
          </a:prstGeom>
          <a:solidFill>
            <a:srgbClr val="0F766E">
              <a:alpha val="30000"/>
            </a:srgbClr>
          </a:solidFill>
          <a:ln/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404DE58-4517-8786-85AC-587EF93586C2}"/>
              </a:ext>
            </a:extLst>
          </p:cNvPr>
          <p:cNvSpPr txBox="1"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B05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SIDONPAY — Team Beta — Week 1 &amp; 2</a:t>
            </a:r>
            <a:endParaRPr lang="en-US" sz="9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BFE425D-D371-EC1F-8AB3-2E9AE99637B0}"/>
              </a:ext>
            </a:extLst>
          </p:cNvPr>
          <p:cNvSpPr txBox="1"/>
          <p:nvPr/>
        </p:nvSpPr>
        <p:spPr>
          <a:xfrm>
            <a:off x="1033272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BF325551-65DA-F808-1C06-C02879619ADD}"/>
              </a:ext>
            </a:extLst>
          </p:cNvPr>
          <p:cNvSpPr txBox="1"/>
          <p:nvPr/>
        </p:nvSpPr>
        <p:spPr>
          <a:xfrm>
            <a:off x="457200" y="2261091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5400" b="1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2051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3038</TotalTime>
  <Words>836</Words>
  <Application>Microsoft Office PowerPoint</Application>
  <PresentationFormat>Widescreen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Ahmed Abdullahi</cp:lastModifiedBy>
  <cp:revision>3</cp:revision>
  <dcterms:created xsi:type="dcterms:W3CDTF">2026-08-26T06:25:30Z</dcterms:created>
  <dcterms:modified xsi:type="dcterms:W3CDTF">2026-09-08T07:56:25Z</dcterms:modified>
</cp:coreProperties>
</file>